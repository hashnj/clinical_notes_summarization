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clanthology.org/2022.findings-emnlp.398/" TargetMode="External"/><Relationship Id="rId3" Type="http://schemas.openxmlformats.org/officeDocument/2006/relationships/hyperlink" Target="https://www.nature.com/articles/s41597-022-01899-x" TargetMode="External"/><Relationship Id="rId4" Type="http://schemas.openxmlformats.org/officeDocument/2006/relationships/hyperlink" Target="https://pmc.ncbi.nlm.nih.gov/articles/PMC11833472/" TargetMode="External"/><Relationship Id="rId5" Type="http://schemas.openxmlformats.org/officeDocument/2006/relationships/hyperlink" Target="https://physionet.org/content/clinical-t5/1.0.0/" TargetMode="External"/><Relationship Id="rId6" Type="http://schemas.openxmlformats.org/officeDocument/2006/relationships/hyperlink" Target="https://aclanthology.org/2024.findings-acl.59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clanthology.org/2020.emnlp-main.750/" TargetMode="External"/><Relationship Id="rId3" Type="http://schemas.openxmlformats.org/officeDocument/2006/relationships/hyperlink" Target="https://aclanthology.org/2021.acl-long.536/" TargetMode="External"/><Relationship Id="rId4" Type="http://schemas.openxmlformats.org/officeDocument/2006/relationships/hyperlink" Target="https://aclanthology.org/2021.naacl-main.58/" TargetMode="External"/><Relationship Id="rId5" Type="http://schemas.openxmlformats.org/officeDocument/2006/relationships/hyperlink" Target="https://aclanthology.org/2023.acl-long.634/" TargetMode="External"/><Relationship Id="rId6" Type="http://schemas.openxmlformats.org/officeDocument/2006/relationships/hyperlink" Target="https://doi.org/10.1016/j.eswa.2024.124456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clanthology.org/2022.findings-emnlp.398/" TargetMode="External"/><Relationship Id="rId3" Type="http://schemas.openxmlformats.org/officeDocument/2006/relationships/hyperlink" Target="https://www.nature.com/articles/s41597-022-01899-x" TargetMode="External"/><Relationship Id="rId4" Type="http://schemas.openxmlformats.org/officeDocument/2006/relationships/hyperlink" Target="https://pmc.ncbi.nlm.nih.gov/articles/PMC11833472/" TargetMode="External"/><Relationship Id="rId5" Type="http://schemas.openxmlformats.org/officeDocument/2006/relationships/hyperlink" Target="https://physionet.org/content/clinical-t5/1.0.0/" TargetMode="External"/><Relationship Id="rId6" Type="http://schemas.openxmlformats.org/officeDocument/2006/relationships/hyperlink" Target="https://aclanthology.org/2024.findings-acl.59/" TargetMode="External"/><Relationship Id="rId7" Type="http://schemas.openxmlformats.org/officeDocument/2006/relationships/hyperlink" Target="https://aclanthology.org/2020.emnlp-main.750/" TargetMode="External"/><Relationship Id="rId8" Type="http://schemas.openxmlformats.org/officeDocument/2006/relationships/hyperlink" Target="https://aclanthology.org/2021.acl-long.536/" TargetMode="External"/><Relationship Id="rId9" Type="http://schemas.openxmlformats.org/officeDocument/2006/relationships/hyperlink" Target="https://aclanthology.org/2021.naacl-main.58/" TargetMode="External"/><Relationship Id="rId10" Type="http://schemas.openxmlformats.org/officeDocument/2006/relationships/hyperlink" Target="https://aclanthology.org/2023.acl-long.634/" TargetMode="External"/><Relationship Id="rId11" Type="http://schemas.openxmlformats.org/officeDocument/2006/relationships/hyperlink" Target="https://doi.org/10.1016/j.eswa.2024.12445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731520"/>
            <a:ext cx="4389120" cy="4389120"/>
          </a:xfrm>
          <a:prstGeom prst="ellipse">
            <a:avLst/>
          </a:prstGeom>
          <a:solidFill>
            <a:srgbClr val="172B45"/>
          </a:solidFill>
          <a:ln>
            <a:solidFill>
              <a:srgbClr val="17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4206240"/>
            <a:ext cx="2926080" cy="2926080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892040"/>
            <a:ext cx="1554480" cy="1554480"/>
          </a:xfrm>
          <a:prstGeom prst="ellipse">
            <a:avLst/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13232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FA097"/>
                </a:solidFill>
                <a:latin typeface="Aptos"/>
              </a:rPr>
              <a:t>MTECH • INFORMATION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8046720" cy="1600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Clinical Note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Summarization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69494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CDDBE8"/>
                </a:solidFill>
                <a:latin typeface="Aptos"/>
              </a:rPr>
              <a:t>Toward evidence-grounded summaries with reduced hallucination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4160520"/>
            <a:ext cx="960120" cy="54864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572000"/>
            <a:ext cx="5303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Submitted to Dr. Dinesh Naik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83480"/>
            <a:ext cx="530352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DDBE8"/>
                </a:solidFill>
                <a:latin typeface="Aptos"/>
              </a:rPr>
              <a:t>Amit Nishad  •  262IT002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DDBE8"/>
                </a:solidFill>
                <a:latin typeface="Aptos"/>
              </a:rPr>
              <a:t>Nikhilesh Joshi  •  262IT029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CDDBE8"/>
                </a:solidFill>
                <a:latin typeface="Aptos"/>
              </a:rPr>
              <a:t>NITK · M.Tech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217920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PROJECT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Clinical notes are rich in information—and costly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The project targets summarization quality and source-grounded factuality.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01368"/>
            <a:ext cx="50292" cy="160934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31363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Clinical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95144"/>
            <a:ext cx="313639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F3E"/>
                </a:solidFill>
                <a:latin typeface="Aptos"/>
              </a:rPr>
              <a:t>Long, semi-structured narratives containing symptoms, history, diagnoses, medications, procedures and plans.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01368"/>
            <a:ext cx="50292" cy="1609344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56232"/>
            <a:ext cx="31363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Summarization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95144"/>
            <a:ext cx="313639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F3E"/>
                </a:solidFill>
                <a:latin typeface="Aptos"/>
              </a:rPr>
              <a:t>A concise view can reduce review burden and help clinicians find relevant information faster.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52044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01368"/>
            <a:ext cx="50292" cy="1609344"/>
          </a:xfrm>
          <a:prstGeom prst="rect">
            <a:avLst/>
          </a:prstGeom>
          <a:solidFill>
            <a:srgbClr val="BF4D53"/>
          </a:solidFill>
          <a:ln>
            <a:solidFill>
              <a:srgbClr val="BF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56232"/>
            <a:ext cx="313639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Factuality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95144"/>
            <a:ext cx="313639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F3E"/>
                </a:solidFill>
                <a:latin typeface="Aptos"/>
              </a:rPr>
              <a:t>A fluent summary may omit, alter or invent a diagnosis, medication, temporal detail or negation.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77639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D32"/>
                </a:solidFill>
                <a:latin typeface="Aptos"/>
              </a:rPr>
              <a:t>Illustrative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4340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07992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SOURCE NOTE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46634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D32"/>
                </a:solidFill>
                <a:latin typeface="Aptos"/>
              </a:rPr>
              <a:t>“Patient denies chest pain. No history of diabetes documented.”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34340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507992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BF4D53"/>
                </a:solidFill>
                <a:latin typeface="Aptos"/>
              </a:rPr>
              <a:t>UNSAFE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4800600"/>
            <a:ext cx="4572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D32"/>
                </a:solidFill>
                <a:latin typeface="Aptos"/>
              </a:rPr>
              <a:t>“Patient has chest pain and diabetes.”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A097"/>
                </a:solidFill>
                <a:latin typeface="Aptos"/>
              </a:rPr>
              <a:t>Core requirement: preserve what the source says, including negation and uncertainty.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02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Fluency is not the same as clinical faithfulness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The system must balance compression, coverage and evidence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03704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84831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Information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52928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F3E"/>
                </a:solidFill>
                <a:latin typeface="Aptos"/>
              </a:rPr>
              <a:t>Clinical narratives can be lengthy and repetitive; key facts are distributed across sections.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2057400"/>
            <a:ext cx="566928" cy="566928"/>
          </a:xfrm>
          <a:prstGeom prst="ellipse">
            <a:avLst/>
          </a:prstGeom>
          <a:solidFill>
            <a:srgbClr val="BF4D53"/>
          </a:solidFill>
          <a:ln>
            <a:solidFill>
              <a:srgbClr val="BF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203704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084831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Clinical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852928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F3E"/>
                </a:solidFill>
                <a:latin typeface="Aptos"/>
              </a:rPr>
              <a:t>Hallucinated or altered facts can misrepresent symptoms, diagnoses, medications or care plans.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288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0" y="2057400"/>
            <a:ext cx="566928" cy="566928"/>
          </a:xfrm>
          <a:prstGeom prst="ellipse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203704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084831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Evaluation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2852928"/>
            <a:ext cx="29260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F3E"/>
                </a:solidFill>
                <a:latin typeface="Aptos"/>
              </a:rPr>
              <a:t>Lexical overlap alone does not establish that a summary is clinically correct.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754880"/>
            <a:ext cx="10698480" cy="868680"/>
          </a:xfrm>
          <a:prstGeom prst="roundRect">
            <a:avLst>
              <a:gd name="adj" fmla="val 12000"/>
            </a:avLst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956048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BB44C"/>
                </a:solidFill>
                <a:latin typeface="Aptos"/>
              </a:rPr>
              <a:t>Project principle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901184"/>
            <a:ext cx="8321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Every generated clinical claim should be traceable to evidence in the input note.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03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Research problem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A focused text-to-text task—not OCR or image understanding.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649224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594360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F1D32"/>
                </a:solidFill>
                <a:latin typeface="Aptos"/>
              </a:rPr>
              <a:t>Clinical summarization models can produce concise, readable output, yet generated statements may be unsupported, contradictory or incomplete relative to the source note.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3736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057400"/>
            <a:ext cx="3749039" cy="21031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222F3E"/>
                </a:solidFill>
                <a:latin typeface="Aptos"/>
              </a:rPr>
              <a:t>•  MIMIC-IV clinical text available through its note module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F3E"/>
                </a:solidFill>
                <a:latin typeface="Aptos"/>
              </a:rPr>
              <a:t>•  ClinicalT5-based summary generation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F3E"/>
                </a:solidFill>
                <a:latin typeface="Aptos"/>
              </a:rPr>
              <a:t>•  Evidence support, negation and uncertainty checks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22F3E"/>
                </a:solidFill>
                <a:latin typeface="Aptos"/>
              </a:rPr>
              <a:t>•  Automatic metrics plus targeted manual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BF4D53"/>
                </a:solidFill>
                <a:latin typeface="Aptos"/>
              </a:rPr>
              <a:t>OUT OF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800600"/>
            <a:ext cx="10716768" cy="7772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47488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F4D53"/>
                </a:solidFill>
                <a:latin typeface="Aptos"/>
              </a:rPr>
              <a:t>OCR • scanned-document processing • computer vision • mixing MIMIC-III with MIMIC-IV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70448"/>
            <a:ext cx="10515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E6E80"/>
                </a:solidFill>
                <a:latin typeface="Aptos"/>
              </a:rPr>
              <a:t>Note: MIMIC-IV's free-text clinical notes are distributed through the companion MIMIC-IV-Note resource; use the applicable access and data-use process.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04 /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Outcome-oriented objectives for the complete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91640"/>
            <a:ext cx="106527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56232"/>
            <a:ext cx="475488" cy="475488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02536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801368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D32"/>
                </a:solidFill>
                <a:latin typeface="Aptos"/>
              </a:rPr>
              <a:t>Develop a clinical summarization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01368"/>
            <a:ext cx="6446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Produce concise summaries from de-identified MIMIC-IV clinical notes using ClinicalT5.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43200"/>
            <a:ext cx="106527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2907792"/>
            <a:ext cx="475488" cy="475488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54096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852928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D32"/>
                </a:solidFill>
                <a:latin typeface="Aptos"/>
              </a:rPr>
              <a:t>Improve evidence-grounded factuality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52928"/>
            <a:ext cx="6446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Design a verification stage that checks generated claims against source evidence, with attention to negation and uncertainty.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94760"/>
            <a:ext cx="106527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959352"/>
            <a:ext cx="475488" cy="475488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05656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904488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D32"/>
                </a:solidFill>
                <a:latin typeface="Aptos"/>
              </a:rPr>
              <a:t>Evaluate quality and clinical reliability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04488"/>
            <a:ext cx="6446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Assess summary relevance, coverage and factual consistency using complementary automatic metrics and targeted human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846320"/>
            <a:ext cx="1065276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5010912"/>
            <a:ext cx="475488" cy="475488"/>
          </a:xfrm>
          <a:prstGeom prst="ellipse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57216"/>
            <a:ext cx="475488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F1D32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956048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F1D32"/>
                </a:solidFill>
                <a:latin typeface="Aptos"/>
              </a:rPr>
              <a:t>Analyse trade-offs and failure modes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56048"/>
            <a:ext cx="64465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Compare baseline generation with the proposed verification approach and identify remaining error patterns.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05 /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Dataset: MIMIC-IV clinical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Use MIMIC-IV only for the project; note text is provided via the MIMIC-IV-Note companion resource.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9164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01368"/>
            <a:ext cx="50292" cy="160934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29992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D32"/>
                </a:solidFill>
                <a:latin typeface="Aptos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95144"/>
            <a:ext cx="299923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De-identified electronic health records from Beth Israel Deaconess Medical Center.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9164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801368"/>
            <a:ext cx="50292" cy="1609344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56232"/>
            <a:ext cx="29992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D32"/>
                </a:solidFill>
                <a:latin typeface="Aptos"/>
              </a:rPr>
              <a:t>Text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295144"/>
            <a:ext cx="299923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Clinical note text, especially discharge summaries and their associated admission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69164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801368"/>
            <a:ext cx="50292" cy="160934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856232"/>
            <a:ext cx="299923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D32"/>
                </a:solidFill>
                <a:latin typeface="Aptos"/>
              </a:rPr>
              <a:t>Why it 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295144"/>
            <a:ext cx="2999232" cy="1115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Real-world clinical language with diagnoses, treatments, temporal details and negation.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977639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D32"/>
                </a:solidFill>
                <a:latin typeface="Aptos"/>
              </a:rPr>
              <a:t>Data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2"/>
            <a:ext cx="10607040" cy="1417320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22F3E"/>
                </a:solidFill>
                <a:latin typeface="Aptos"/>
              </a:rPr>
              <a:t>•  Complete required PhysioNet credentialing and data-use training.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F3E"/>
                </a:solidFill>
                <a:latin typeface="Aptos"/>
              </a:rPr>
              <a:t>•  Use de-identified text; avoid attempting re-identification.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F3E"/>
                </a:solidFill>
                <a:latin typeface="Aptos"/>
              </a:rPr>
              <a:t>•  Document note selection, exclusions, train/validation/test split and preprocessing.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22F3E"/>
                </a:solidFill>
                <a:latin typeface="Aptos"/>
              </a:rPr>
              <a:t>•  Do not claim OCR is required: the selected note text is already machine-readable.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06 / DATA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What the input data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Illustrative schema only; exact columns depend on the selected MIMIC-IV-Note table and version.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691640"/>
            <a:ext cx="1920240" cy="512064"/>
          </a:xfrm>
          <a:prstGeom prst="rect">
            <a:avLst/>
          </a:prstGeom>
          <a:solidFill>
            <a:srgbClr val="0F1D32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2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1691640"/>
            <a:ext cx="2834640" cy="512064"/>
          </a:xfrm>
          <a:prstGeom prst="rect">
            <a:avLst/>
          </a:prstGeom>
          <a:solidFill>
            <a:srgbClr val="0F1D32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9776" y="1810512"/>
            <a:ext cx="2633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691640"/>
            <a:ext cx="5669280" cy="512064"/>
          </a:xfrm>
          <a:prstGeom prst="rect">
            <a:avLst/>
          </a:prstGeom>
          <a:solidFill>
            <a:srgbClr val="0F1D32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4416" y="1810512"/>
            <a:ext cx="5468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203704"/>
            <a:ext cx="19202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322576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2F3E"/>
                </a:solidFill>
                <a:latin typeface="Aptos"/>
              </a:rPr>
              <a:t>subject_id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2203704"/>
            <a:ext cx="2834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2322576"/>
            <a:ext cx="2633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10001234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2203704"/>
            <a:ext cx="56692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4416" y="2322576"/>
            <a:ext cx="5468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De-identified patient 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715768"/>
            <a:ext cx="192024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834640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2F3E"/>
                </a:solidFill>
                <a:latin typeface="Aptos"/>
              </a:rPr>
              <a:t>hadm_id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2715768"/>
            <a:ext cx="283464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9776" y="2834640"/>
            <a:ext cx="2633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20004567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2715768"/>
            <a:ext cx="566928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4416" y="2834640"/>
            <a:ext cx="5468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Hospital admission key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3227832"/>
            <a:ext cx="19202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3346704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2F3E"/>
                </a:solidFill>
                <a:latin typeface="Aptos"/>
              </a:rPr>
              <a:t>note_id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3227832"/>
            <a:ext cx="2834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9776" y="3346704"/>
            <a:ext cx="2633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NOTE-0001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04688" y="3227832"/>
            <a:ext cx="56692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14416" y="3346704"/>
            <a:ext cx="5468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Unique note identifier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3739896"/>
            <a:ext cx="192024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3858768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2F3E"/>
                </a:solidFill>
                <a:latin typeface="Aptos"/>
              </a:rPr>
              <a:t>note_type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70048" y="3739896"/>
            <a:ext cx="283464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9776" y="3858768"/>
            <a:ext cx="2633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Discharge 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4688" y="3739896"/>
            <a:ext cx="566928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14416" y="3858768"/>
            <a:ext cx="5468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Select relevant note type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4251960"/>
            <a:ext cx="19202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4370832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2F3E"/>
                </a:solidFill>
                <a:latin typeface="Aptos"/>
              </a:rPr>
              <a:t>charttime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70048" y="4251960"/>
            <a:ext cx="2834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79776" y="4370832"/>
            <a:ext cx="2633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2150-04-12 10:30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4688" y="4251960"/>
            <a:ext cx="56692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14416" y="4370832"/>
            <a:ext cx="5468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Note timestamp (example)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" y="4764024"/>
            <a:ext cx="192024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" y="4882896"/>
            <a:ext cx="17190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22F3E"/>
                </a:solidFill>
                <a:latin typeface="Aptos"/>
              </a:rPr>
              <a:t>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70048" y="4764024"/>
            <a:ext cx="283464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79776" y="4882896"/>
            <a:ext cx="263347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“Patient admitted with…”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04688" y="4764024"/>
            <a:ext cx="5669280" cy="512064"/>
          </a:xfrm>
          <a:prstGeom prst="rect">
            <a:avLst/>
          </a:prstGeom>
          <a:solidFill>
            <a:srgbClr val="F0F4F8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14416" y="4882896"/>
            <a:ext cx="54681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F3E"/>
                </a:solidFill>
                <a:latin typeface="Aptos"/>
              </a:rPr>
              <a:t>Source clinical narrative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5486400"/>
            <a:ext cx="1325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A097"/>
                </a:solidFill>
                <a:latin typeface="Aptos"/>
              </a:rPr>
              <a:t>Training pair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4831" y="5458968"/>
            <a:ext cx="9052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Input: selected note text  →  Target: reference brief hospital-course summary (where paired labels are available).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" y="5989320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5E6E80"/>
                </a:solidFill>
                <a:latin typeface="Aptos"/>
              </a:rPr>
              <a:t>Identifiers and timestamps above are examples, not real patient records. Keep patient/admission-level splits grouped to reduce leakage.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07 /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Ten relevant papers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Model and dataset foundations, plus clinical summarization benchmarks.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19072"/>
            <a:ext cx="54864" cy="566928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01  ClinicalT5: A Generative Language Model for Clinical Text (Lu et al., 2022)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Introduces a T5 model pretrained on clinical text. Direct foundation for the selected NLP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9659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2"/>
              </a:rPr>
              <a:t>Paper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420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633472"/>
            <a:ext cx="54864" cy="566928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02  MIMIC-IV, a Freely Accessible Electronic Health Record Dataset (Johnson et al., 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Primary dataset description; documents EHR tables, clinical measurements and de-identified notes.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8803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3"/>
              </a:rPr>
              <a:t>Paper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564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547872"/>
            <a:ext cx="54864" cy="566928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387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03  A Dataset and Benchmark for Hospital Course Summarization with Adapted LLMs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Introduces MIMIC-IV-BHC and evaluates summaries of hospital-course information from clinical notes.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37947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4"/>
              </a:rPr>
              <a:t>Paper 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3708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462272"/>
            <a:ext cx="54864" cy="566928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531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04  Clinical-T5: Large Language Models Built Using MIMIC Clinical Text (2023)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Relevant model release/resource; documents Clinical-T5 variants trained using MIMIC clinical notes.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47091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5"/>
              </a:rPr>
              <a:t>Paper 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2852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376672"/>
            <a:ext cx="54864" cy="566928"/>
          </a:xfrm>
          <a:prstGeom prst="rect">
            <a:avLst/>
          </a:prstGeom>
          <a:solidFill>
            <a:srgbClr val="BF4D53"/>
          </a:solidFill>
          <a:ln>
            <a:solidFill>
              <a:srgbClr val="BF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675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05  Better Late Than Never: MEDAL (Li et al., Findings of ACL 2024)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Model-agnostic post-processing framework intended to detect and correct hallucinations in medical summaries.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56235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6"/>
              </a:rPr>
              <a:t>Paper 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07 /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Ten relevant papers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Factual consistency, evidence support and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276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719072"/>
            <a:ext cx="54864" cy="566928"/>
          </a:xfrm>
          <a:prstGeom prst="rect">
            <a:avLst/>
          </a:prstGeom>
          <a:solidFill>
            <a:srgbClr val="BF4D53"/>
          </a:solidFill>
          <a:ln>
            <a:solidFill>
              <a:srgbClr val="BF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06  Evaluating the Factual Consistency of Abstractive Text Summarization (Kryscinski et al., 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FactCC predicts support/contradiction and identifies evidence spans; useful for claim-level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9659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2"/>
              </a:rPr>
              <a:t>Paper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5420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633472"/>
            <a:ext cx="54864" cy="566928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07  Improving Factual Consistency of Abstractive Text Summarization via Question Answering (Nan et al., 2021)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Uses question-answering signals to measure and optimize summary factual consistency.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8803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3"/>
              </a:rPr>
              <a:t>Paper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4564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547872"/>
            <a:ext cx="54864" cy="566928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387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08  Enhancing Factual Consistency of Abstractive Summarization (Zhu et al., 2021)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Combines fact-aware generation with a factual correction stage; informs the verification/correction design.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37947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4"/>
              </a:rPr>
              <a:t>Paper 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3708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462272"/>
            <a:ext cx="54864" cy="566928"/>
          </a:xfrm>
          <a:prstGeom prst="rect">
            <a:avLst/>
          </a:prstGeom>
          <a:solidFill>
            <a:srgbClr val="BF4D53"/>
          </a:solidFill>
          <a:ln>
            <a:solidFill>
              <a:srgbClr val="BF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531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09  AlignScore: Evaluating Factual Consistency with a Unified Alignment Function (Zha et al., 2023)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General-purpose alignment metric for checking whether generated text is supported by its source.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47091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5"/>
              </a:rPr>
              <a:t>Paper 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285232"/>
            <a:ext cx="1074420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376672"/>
            <a:ext cx="54864" cy="566928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67528"/>
            <a:ext cx="10149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F1D32"/>
                </a:solidFill>
                <a:latin typeface="Aptos"/>
              </a:rPr>
              <a:t>10  Factual Consistency Evaluation of Summarization in the Era of LLMs (Luo et al., 2024)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9555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E6E80"/>
                </a:solidFill>
                <a:latin typeface="Aptos"/>
              </a:rPr>
              <a:t>Studies factual-consistency evaluation across domains, including clinical summaries; motivates careful metric selection.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5623560"/>
            <a:ext cx="731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  <a:hlinkClick r:id="rId6"/>
              </a:rPr>
              <a:t>Paper 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08 /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What the literature supports—and what it leaves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The revised review keeps the project focused on text-based MIMIC-IV summarization.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01368"/>
            <a:ext cx="50292" cy="17465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D32"/>
                </a:solidFill>
                <a:latin typeface="Aptos"/>
              </a:rPr>
              <a:t>Model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95144"/>
            <a:ext cx="304495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ClinicalT5 is a defensible domain-adapted generation baseline; performance still needs task-specific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01368"/>
            <a:ext cx="50292" cy="1746504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5623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D32"/>
                </a:solidFill>
                <a:latin typeface="Aptos"/>
              </a:rPr>
              <a:t>Dataset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95144"/>
            <a:ext cx="304495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MIMIC-IV provides EHR data; the note text is accessed through the companion MIMIC-IV-Note resource.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01368"/>
            <a:ext cx="50292" cy="1746504"/>
          </a:xfrm>
          <a:prstGeom prst="rect">
            <a:avLst/>
          </a:prstGeom>
          <a:solidFill>
            <a:srgbClr val="BF4D53"/>
          </a:solidFill>
          <a:ln>
            <a:solidFill>
              <a:srgbClr val="BF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56232"/>
            <a:ext cx="304495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D32"/>
                </a:solidFill>
                <a:latin typeface="Aptos"/>
              </a:rPr>
              <a:t>Factuality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95144"/>
            <a:ext cx="304495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MEDAL, FactCC and AlignScore motivate verification and factual-consistency evaluation, but are not guarantees of clinical safety.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D32"/>
                </a:solidFill>
                <a:latin typeface="Aptos"/>
              </a:rPr>
              <a:t>Review of the original slide's three entries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526280"/>
            <a:ext cx="10652760" cy="42062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08576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BF4D53"/>
                </a:solidFill>
                <a:latin typeface="Aptos"/>
              </a:rPr>
              <a:t>“Clinical Safety Framework (2025)”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608576"/>
            <a:ext cx="7223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F3E"/>
                </a:solidFill>
                <a:latin typeface="Aptos"/>
              </a:rPr>
              <a:t>Too vague to verify without authors/title/venue; replace or supply full citation.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38344"/>
            <a:ext cx="10652760" cy="420624"/>
          </a:xfrm>
          <a:prstGeom prst="roundRect">
            <a:avLst>
              <a:gd name="adj" fmla="val 12000"/>
            </a:avLst>
          </a:prstGeom>
          <a:solidFill>
            <a:srgbClr val="E4F3E9"/>
          </a:solidFill>
          <a:ln>
            <a:solidFill>
              <a:srgbClr val="E4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“MEDAL (ACL 2024)”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5120640"/>
            <a:ext cx="7223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F3E"/>
                </a:solidFill>
                <a:latin typeface="Aptos"/>
              </a:rPr>
              <a:t>Relevant and verifiable; retained as Paper 05.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550408"/>
            <a:ext cx="10652760" cy="420624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32704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BF4D53"/>
                </a:solidFill>
                <a:latin typeface="Aptos"/>
              </a:rPr>
              <a:t>“LLM Clinical Note Summarization System (2025)”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632704"/>
            <a:ext cx="7223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F3E"/>
                </a:solidFill>
                <a:latin typeface="Aptos"/>
              </a:rPr>
              <a:t>Generic title, no identifiable citation; replaced by the MIMIC-IV-BHC benchmark paper.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FA097"/>
                </a:solidFill>
                <a:latin typeface="Aptos"/>
              </a:rPr>
              <a:t>09 /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F1D32"/>
                </a:solidFill>
                <a:latin typeface="Aptos"/>
              </a:rPr>
              <a:t>Methodology: generation with evidence-based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E80"/>
                </a:solidFill>
                <a:latin typeface="Aptos"/>
              </a:rPr>
              <a:t>All arrows show explicit data flow; the workflow is text-only, with no OCR/CV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810512" cy="1307592"/>
          </a:xfrm>
          <a:prstGeom prst="roundRect">
            <a:avLst>
              <a:gd name="adj" fmla="val 12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938528"/>
            <a:ext cx="310896" cy="310896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20824"/>
            <a:ext cx="310896" cy="10972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13432"/>
            <a:ext cx="1591056" cy="23774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D32"/>
                </a:solidFill>
                <a:latin typeface="Aptos"/>
              </a:rPr>
              <a:t>Select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96896"/>
            <a:ext cx="1591056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MIMIC-IV-Note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Discharge summaries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482596"/>
            <a:ext cx="475488" cy="0"/>
          </a:xfrm>
          <a:prstGeom prst="line">
            <a:avLst/>
          </a:prstGeom>
          <a:ln w="22860">
            <a:solidFill>
              <a:srgbClr val="1FA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28800"/>
            <a:ext cx="1810512" cy="1307592"/>
          </a:xfrm>
          <a:prstGeom prst="roundRect">
            <a:avLst>
              <a:gd name="adj" fmla="val 12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90088" y="1938528"/>
            <a:ext cx="310896" cy="310896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020824"/>
            <a:ext cx="310896" cy="10972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313432"/>
            <a:ext cx="1591056" cy="23774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D32"/>
                </a:solidFill>
                <a:latin typeface="Aptos"/>
              </a:rPr>
              <a:t>Prepare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596896"/>
            <a:ext cx="1591056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Clean text • select sections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Tokenize and split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90872" y="2482596"/>
            <a:ext cx="475488" cy="0"/>
          </a:xfrm>
          <a:prstGeom prst="line">
            <a:avLst/>
          </a:prstGeom>
          <a:ln w="22860">
            <a:solidFill>
              <a:srgbClr val="1FA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60" y="1828800"/>
            <a:ext cx="1810512" cy="1307592"/>
          </a:xfrm>
          <a:prstGeom prst="roundRect">
            <a:avLst>
              <a:gd name="adj" fmla="val 12000"/>
            </a:avLst>
          </a:prstGeom>
          <a:solidFill>
            <a:srgbClr val="DAF3EF"/>
          </a:solidFill>
          <a:ln>
            <a:solidFill>
              <a:srgbClr val="DA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76088" y="1938528"/>
            <a:ext cx="310896" cy="310896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020824"/>
            <a:ext cx="310896" cy="10972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313432"/>
            <a:ext cx="1591056" cy="23774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D32"/>
                </a:solidFill>
                <a:latin typeface="Aptos"/>
              </a:rPr>
              <a:t>Generate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596896"/>
            <a:ext cx="1591056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ClinicalT5 baseline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Note → draft summary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76872" y="2482596"/>
            <a:ext cx="475488" cy="0"/>
          </a:xfrm>
          <a:prstGeom prst="line">
            <a:avLst/>
          </a:prstGeom>
          <a:ln w="22860">
            <a:solidFill>
              <a:srgbClr val="1FA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52360" y="1828800"/>
            <a:ext cx="1810512" cy="1307592"/>
          </a:xfrm>
          <a:prstGeom prst="roundRect">
            <a:avLst>
              <a:gd name="adj" fmla="val 12000"/>
            </a:avLst>
          </a:prstGeom>
          <a:solidFill>
            <a:srgbClr val="E5EEF9"/>
          </a:solidFill>
          <a:ln>
            <a:solidFill>
              <a:srgbClr val="E5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62088" y="1938528"/>
            <a:ext cx="310896" cy="310896"/>
          </a:xfrm>
          <a:prstGeom prst="ellipse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2020824"/>
            <a:ext cx="310896" cy="10972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2313432"/>
            <a:ext cx="1591056" cy="23774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D32"/>
                </a:solidFill>
                <a:latin typeface="Aptos"/>
              </a:rPr>
              <a:t>Extract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596896"/>
            <a:ext cx="1591056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Split draft into claims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Identify key clinical facts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2482596"/>
            <a:ext cx="475488" cy="0"/>
          </a:xfrm>
          <a:prstGeom prst="line">
            <a:avLst/>
          </a:prstGeom>
          <a:ln w="22860">
            <a:solidFill>
              <a:srgbClr val="1FA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38360" y="1828800"/>
            <a:ext cx="1810512" cy="1307592"/>
          </a:xfrm>
          <a:prstGeom prst="roundRect">
            <a:avLst>
              <a:gd name="adj" fmla="val 12000"/>
            </a:avLst>
          </a:prstGeom>
          <a:solidFill>
            <a:srgbClr val="FFF2DA"/>
          </a:solidFill>
          <a:ln>
            <a:solidFill>
              <a:srgbClr val="FFF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48088" y="1938528"/>
            <a:ext cx="310896" cy="310896"/>
          </a:xfrm>
          <a:prstGeom prst="ellipse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48088" y="2020824"/>
            <a:ext cx="310896" cy="10972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F1D32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2313432"/>
            <a:ext cx="1591056" cy="237744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F1D32"/>
                </a:solidFill>
                <a:latin typeface="Aptos"/>
              </a:rPr>
              <a:t>Verify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596896"/>
            <a:ext cx="1591056" cy="3840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Match claims to source spans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222F3E"/>
                </a:solidFill>
                <a:latin typeface="Aptos"/>
              </a:rPr>
              <a:t>Check support / contradiction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643616" y="3136392"/>
            <a:ext cx="0" cy="320040"/>
          </a:xfrm>
          <a:prstGeom prst="line">
            <a:avLst/>
          </a:prstGeom>
          <a:ln w="22860">
            <a:solidFill>
              <a:srgbClr val="1FA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9985248" y="3456432"/>
            <a:ext cx="1325880" cy="658368"/>
          </a:xfrm>
          <a:prstGeom prst="diamond">
            <a:avLst/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31552" y="3685032"/>
            <a:ext cx="1024128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Supported?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9372600" y="4069080"/>
            <a:ext cx="822960" cy="457200"/>
          </a:xfrm>
          <a:prstGeom prst="line">
            <a:avLst/>
          </a:prstGeom>
          <a:ln w="22860">
            <a:solidFill>
              <a:srgbClr val="1FA0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001000" y="4526280"/>
            <a:ext cx="2148840" cy="658368"/>
          </a:xfrm>
          <a:prstGeom prst="roundRect">
            <a:avLst>
              <a:gd name="adj" fmla="val 12000"/>
            </a:avLst>
          </a:prstGeom>
          <a:solidFill>
            <a:srgbClr val="E4F3E9"/>
          </a:solidFill>
          <a:ln>
            <a:solidFill>
              <a:srgbClr val="E4F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645152"/>
            <a:ext cx="1874519" cy="18288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A097"/>
                </a:solidFill>
                <a:latin typeface="Aptos"/>
              </a:rPr>
              <a:t>SUPPORTED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873752"/>
            <a:ext cx="1874519" cy="1554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0F1D32"/>
                </a:solidFill>
                <a:latin typeface="Aptos"/>
              </a:rPr>
              <a:t>Keep claim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927080" y="4069080"/>
            <a:ext cx="320040" cy="457200"/>
          </a:xfrm>
          <a:prstGeom prst="line">
            <a:avLst/>
          </a:prstGeom>
          <a:ln w="22860">
            <a:solidFill>
              <a:srgbClr val="BF4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012680" y="452628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04120" y="4645152"/>
            <a:ext cx="1417320" cy="18288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BF4D53"/>
                </a:solidFill>
                <a:latin typeface="Aptos"/>
              </a:rPr>
              <a:t>UNSUPPORTED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4120" y="4873752"/>
            <a:ext cx="1417320" cy="1554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0F1D32"/>
                </a:solidFill>
                <a:latin typeface="Aptos"/>
              </a:rPr>
              <a:t>Revise / remove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594592" y="4855464"/>
            <a:ext cx="182880" cy="0"/>
          </a:xfrm>
          <a:prstGeom prst="line">
            <a:avLst/>
          </a:prstGeom>
          <a:ln w="19050">
            <a:solidFill>
              <a:srgbClr val="BF4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1777472" y="2880360"/>
            <a:ext cx="0" cy="1975104"/>
          </a:xfrm>
          <a:prstGeom prst="line">
            <a:avLst/>
          </a:prstGeom>
          <a:ln w="19050">
            <a:solidFill>
              <a:srgbClr val="BF4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1548872" y="2880360"/>
            <a:ext cx="228600" cy="0"/>
          </a:xfrm>
          <a:prstGeom prst="line">
            <a:avLst/>
          </a:prstGeom>
          <a:ln w="19050">
            <a:solidFill>
              <a:srgbClr val="BF4D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7240" y="5532120"/>
            <a:ext cx="10652760" cy="25603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F1D32"/>
                </a:solidFill>
                <a:latin typeface="Aptos"/>
              </a:rPr>
              <a:t>Re-verify revised claims against the original note before accepting.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5870448"/>
            <a:ext cx="8503920" cy="384048"/>
          </a:xfrm>
          <a:prstGeom prst="roundRect">
            <a:avLst>
              <a:gd name="adj" fmla="val 12000"/>
            </a:avLst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93392" y="5971032"/>
            <a:ext cx="8183879" cy="155448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FINAL SUMMARY   •   concise   •   evidence-linked   •   negation-aware   •   uncertainty-preserving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22860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5E6E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10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Evaluation must measure more than word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Use complementary metrics and inspect clinically meaningful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37360"/>
            <a:ext cx="106527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28800"/>
            <a:ext cx="54864" cy="640080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56231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D32"/>
                </a:solidFill>
                <a:latin typeface="Aptos"/>
              </a:rPr>
              <a:t>Content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856231"/>
            <a:ext cx="2926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A097"/>
                </a:solidFill>
                <a:latin typeface="Aptos"/>
              </a:rPr>
              <a:t>ROUGE-1 / ROUGE-2 / ROUGE-L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37943"/>
            <a:ext cx="5074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F3E"/>
                </a:solidFill>
                <a:latin typeface="Aptos"/>
              </a:rPr>
              <a:t>Measures lexical overlap with reference summaries; not a factuality guarantee.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61488"/>
            <a:ext cx="106527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852928"/>
            <a:ext cx="54864" cy="640080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880360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D32"/>
                </a:solidFill>
                <a:latin typeface="Aptos"/>
              </a:rPr>
              <a:t>Semantic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880360"/>
            <a:ext cx="2926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BB44C"/>
                </a:solidFill>
                <a:latin typeface="Aptos"/>
              </a:rPr>
              <a:t>BERTScore (optional)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62072"/>
            <a:ext cx="5074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F3E"/>
                </a:solidFill>
                <a:latin typeface="Aptos"/>
              </a:rPr>
              <a:t>Measures semantic similarity; can miss clinically important contradictions.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85616"/>
            <a:ext cx="106527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877056"/>
            <a:ext cx="54864" cy="640080"/>
          </a:xfrm>
          <a:prstGeom prst="rect">
            <a:avLst/>
          </a:prstGeom>
          <a:solidFill>
            <a:srgbClr val="BF4D53"/>
          </a:solidFill>
          <a:ln>
            <a:solidFill>
              <a:srgbClr val="BF4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04488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D32"/>
                </a:solidFill>
                <a:latin typeface="Aptos"/>
              </a:rPr>
              <a:t>Factual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904488"/>
            <a:ext cx="2926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F4D53"/>
                </a:solidFill>
                <a:latin typeface="Aptos"/>
              </a:rPr>
              <a:t>AlignScore or FactCC-style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86200"/>
            <a:ext cx="5074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F3E"/>
                </a:solidFill>
                <a:latin typeface="Aptos"/>
              </a:rPr>
              <a:t>Tests source-summary support; requires validation for clinical 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809744"/>
            <a:ext cx="106527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4901183"/>
            <a:ext cx="54864" cy="640080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28616"/>
            <a:ext cx="20116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F1D32"/>
                </a:solidFill>
                <a:latin typeface="Aptos"/>
              </a:rPr>
              <a:t>Clinical error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928616"/>
            <a:ext cx="2926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A097"/>
                </a:solidFill>
                <a:latin typeface="Aptos"/>
              </a:rPr>
              <a:t>Negation • medications • diagnoses • temporality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910328"/>
            <a:ext cx="507492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F3E"/>
                </a:solidFill>
                <a:latin typeface="Aptos"/>
              </a:rPr>
              <a:t>Manually inspect a stratified sample; report unsupported claims and critical omissions.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989320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E6E80"/>
                </a:solidFill>
                <a:latin typeface="Aptos"/>
              </a:rPr>
              <a:t>Report model version, decoding settings, data split, confidence intervals where feasible, and examples of failure cases.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11 / 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Expected contributions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The output is a research prototype, not a clinical decision-making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663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92807"/>
            <a:ext cx="50292" cy="17465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47672"/>
            <a:ext cx="47823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Expected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86584"/>
            <a:ext cx="478231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ClinicalT5-based summarization baseline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Evidence-checking and correction workflow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Evaluation of factuality / omission trade-offs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Error taxonomy for clinically important failures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1663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892807"/>
            <a:ext cx="50292" cy="1746504"/>
          </a:xfrm>
          <a:prstGeom prst="rect">
            <a:avLst/>
          </a:prstGeom>
          <a:solidFill>
            <a:srgbClr val="EBB44C"/>
          </a:solidFill>
          <a:ln>
            <a:solidFill>
              <a:srgbClr val="EB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947672"/>
            <a:ext cx="4782312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F1D32"/>
                </a:solidFill>
                <a:latin typeface="Aptos"/>
              </a:rPr>
              <a:t>Limitations to acknowledge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86584"/>
            <a:ext cx="4782312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MIMIC notes reflect one institution and population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Reference summaries may not cover every useful fact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Automatic factuality metrics can miss clinical nuance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F3E"/>
                </a:solidFill>
                <a:latin typeface="Aptos"/>
              </a:rPr>
              <a:t>• Human evaluation is limited and not a safety certification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43400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562856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EBB44C"/>
                </a:solidFill>
                <a:latin typeface="Aptos"/>
              </a:rPr>
              <a:t>Success criterion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80560"/>
            <a:ext cx="81381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Reduce unsupported or contradictory claims while preserving clinically important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715000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BF4D53"/>
                </a:solidFill>
                <a:latin typeface="Aptos"/>
              </a:rPr>
              <a:t>No generated summary should be presented as a substitute for clinician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3035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1FA097"/>
                </a:solidFill>
                <a:latin typeface="Aptos"/>
              </a:rPr>
              <a:t>12 /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F1D32"/>
                </a:solidFill>
                <a:latin typeface="Aptos"/>
              </a:rPr>
              <a:t>Selected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24712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E6E80"/>
                </a:solidFill>
                <a:latin typeface="Aptos"/>
              </a:rPr>
              <a:t>Click a paper title in the literature-review slides to open its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6032"/>
            <a:ext cx="438912" cy="32004"/>
          </a:xfrm>
          <a:prstGeom prst="rect">
            <a:avLst/>
          </a:prstGeom>
          <a:solidFill>
            <a:srgbClr val="1FA097"/>
          </a:solidFill>
          <a:ln>
            <a:solidFill>
              <a:srgbClr val="1FA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E6E80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627632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5564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00784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2"/>
              </a:rPr>
              <a:t>Lu, Q., Dou, D., &amp; Nguyen, T. (2022). ClinicalT5: A Generative Language Model for Clinical Text. Findings of EMNLP.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505456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33472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78608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3"/>
              </a:rPr>
              <a:t>Johnson, A. E. W., et al. (2023). MIMIC-IV, a freely accessible electronic health record dataset. Scientific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383280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51129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56432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4"/>
              </a:rPr>
              <a:t>A Dataset and Benchmark for Hospital Course Summarization with Adapted Large Language Models (2025).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261104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389120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34256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5"/>
              </a:rPr>
              <a:t>Clinical-T5: Large Language Models Built Using MIMIC Clinical Text. PhysioNet resource (2023).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138928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266944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12080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6"/>
              </a:rPr>
              <a:t>Li, S., et al. (2024). Better Late Than Never: Model-Agnostic Hallucination Post-Processing Framework Towards Clinical Text Summarization. Findings of ACL.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1627632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175564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700784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7"/>
              </a:rPr>
              <a:t>Kryscinski, W., et al. (2020). Evaluating the Factual Consistency of Abstractive Text Summarization. EMNLP.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2505456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2633472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578608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8"/>
              </a:rPr>
              <a:t>Nan, F., et al. (2021). Improving Factual Consistency of Abstractive Text Summarization via Question Answering. ACL-IJCNLP.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3383280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351129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56432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9"/>
              </a:rPr>
              <a:t>Zhu, C., et al. (2021). Enhancing Factual Consistency of Abstractive Summarization. NAACL-HLT.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4261104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4389120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34256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10"/>
              </a:rPr>
              <a:t>Zha, Y., et al. (2023). AlignScore: Evaluating Factual Consistency with a Unified Alignment Function. ACL.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1928" y="5138928"/>
            <a:ext cx="5230368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5266944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A097"/>
                </a:solidFill>
                <a:latin typeface="Aptos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212080"/>
            <a:ext cx="45262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F1D32"/>
                </a:solidFill>
                <a:latin typeface="Aptos"/>
                <a:hlinkClick r:id="rId11"/>
              </a:rPr>
              <a:t>Luo, Z., Xie, Q., &amp; Ananiadou, S. (2024). Factual consistency evaluation of summarization in the Era of large language models. Expert Systems with Applications.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6172200"/>
            <a:ext cx="10515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5E6E80"/>
                </a:solidFill>
                <a:latin typeface="Aptos"/>
              </a:rPr>
              <a:t>Dataset note: MIMIC-IV clinical notes are provided through the MIMIC-IV-Note resource; verify access conditions and exact schema before data preparation.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419088"/>
            <a:ext cx="11045952" cy="10972"/>
          </a:xfrm>
          <a:prstGeom prst="rect">
            <a:avLst/>
          </a:prstGeom>
          <a:solidFill>
            <a:srgbClr val="DCE3EB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647395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5E6E80"/>
                </a:solidFill>
                <a:latin typeface="Aptos"/>
              </a:rPr>
              <a:t>Clinical Note Summarization Without Hallucination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